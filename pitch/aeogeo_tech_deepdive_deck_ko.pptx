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D9C2"/>
                </a:solidFill>
                <a:latin typeface="Pretendard"/>
              </a:rPr>
              <a:t>AEOGEO · 엔지니어링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E6EDF7"/>
                </a:solidFill>
                <a:latin typeface="Pretendard"/>
              </a:rPr>
              <a:t>엔지니어링 심층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8B97AA"/>
                </a:solidFill>
                <a:latin typeface="Pretendard"/>
              </a:rPr>
              <a:t>165쪽 도메인 책을 한국어 RAG API로 변환해</a:t>
            </a:r>
          </a:p>
          <a:p>
            <a:pPr algn="l"/>
            <a:r>
              <a:rPr sz="2000" b="0">
                <a:solidFill>
                  <a:srgbClr val="8B97AA"/>
                </a:solidFill>
                <a:latin typeface="Pretendard"/>
              </a:rPr>
              <a:t>AI 어시스턴트가 실제로 인용하게 만드는 방법.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2157984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Pretendard"/>
              </a:rPr>
              <a:t>FastAPI · Ollama · Tesseract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937760"/>
            <a:ext cx="1197864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5C466"/>
                </a:solidFill>
                <a:latin typeface="Pretendard"/>
              </a:rPr>
              <a:t>한국어 NLP · 해요체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493776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Pretendard"/>
              </a:rPr>
              <a:t>AEO + GEO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출처: 이슈 #1 (SSOT 아키텍처) · 이슈 #4 (한국어 NLP / GEO 기술스택)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02 · 시스템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7"/>
                </a:solidFill>
                <a:latin typeface="Pretendard"/>
              </a:rPr>
              <a:t>세 개의 레이어, 하나의 로컬 우선 런타임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64240" cy="4297680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│  CLIENT   elbee.yogaman.club · aiegoo.github.io/yoga · curl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└──────────────────────────────┬──────────────────────────────┘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                       │  HTTP / SSE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┌──────────────────────────────▼──────────────────────────────┐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│  FastAPI :8000   /chat  /chat/stream  /search  /search/... 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│                  /search/locations  /docs  /redoc  /health 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└──────┬─────────────────────────────────────┬────────────────┘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│ RAG path                            │ Location path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┌──────▼──────────┐    ┌────────────────────▼───────────────┐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│  GeoDataStore   │    │       YogaLocationStore           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│  165 OCR pages  │    │  Haversine · weather · amenity    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│  4 indexes      │    └─────────────────────┬──────────────┘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└──────┬──────────┘                  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│ context chunks               ┌──────▼───────────┐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┌──────▼──────────┐                   │   ElbeeAgent    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│  RagService     │                   │   해요체 페르소나 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│  ELBEE_SYSTEM_KO│                   │   조사 자동 결정  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└──────┬──────────┘                   └───────────────────┘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┌──────▼──────────────────────────────────────────────────┐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│  LLMService → httpx async → Ollama :11434  (llama3)    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D2Coding"/>
              </a:rPr>
              <a:t>└──────────────────────────────────────────────────────────┘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03 · 한국어 NLP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7"/>
                </a:solidFill>
                <a:latin typeface="Pretendard"/>
              </a:rPr>
              <a:t>단순 BPE로는 한국어가 깨지는 이유와 해결법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132588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21408"/>
            <a:ext cx="54864" cy="38404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848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7"/>
                </a:solidFill>
                <a:latin typeface="Pretendard"/>
              </a:rPr>
              <a:t>A. 형태소 기반 토크나이징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9631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한국어는 교착어 — 학교에 / 학교도 / 학교만 이 세 토큰이 됩니다.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Kiwi · MeCab을 사전 필터로 쓰고, KoBERT · HyperCLOVA-X 계열을 채택했습니다.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내부 요가 용어 테스트셋 기준 어간 recall +28%.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11064240" cy="132588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584448"/>
            <a:ext cx="54864" cy="38404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5478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7"/>
                </a:solidFill>
                <a:latin typeface="Pretendard"/>
              </a:rPr>
              <a:t>B. 주어 생략 · 문맥 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95935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한국어는 주어를 자주 생략합니다. "그거 맛있더라" 같은 발화는 turn-1 앵커가 필수.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ELBEE_SYSTEM_KO에 해요체 few-shot 예시 + 슬라이딩 히스토리 윈도를 결합.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톤앤매너는 표면(chat / invite / search)별로 분리 가능.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047488"/>
            <a:ext cx="54864" cy="38404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0109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7"/>
                </a:solidFill>
                <a:latin typeface="Pretendard"/>
              </a:rPr>
              <a:t>C. 중의성 · 신조어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42239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"사과하세요" = apologize 또는 give-an-apple. context window 스캔 +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Dynamic Few-shot Learning으로 요청 시점 vector store에서 예시를 끌어옵니다.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요린이 · 회복요가 · 인요가 같은 도메인 신조어는 야간 재인덱싱.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04 · GEO 컨텍스트 엔진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7"/>
                </a:solidFill>
                <a:latin typeface="Pretendard"/>
              </a:rPr>
              <a:t>위치는 컨텍스트의 끝판왕 — 네 가지 역할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486400" cy="19202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57984"/>
            <a:ext cx="54864" cy="38404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214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7"/>
                </a:solidFill>
                <a:latin typeface="Pretendard"/>
              </a:rPr>
              <a:t>Geofencing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32888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파트너 스튜디오 반경 500m → 실시간 슬롯 / 쿠폰 푸시.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/search/locations + Haversine 랭킹 기반.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5486400" cy="19202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157984"/>
            <a:ext cx="54864" cy="384048"/>
          </a:xfrm>
          <a:prstGeom prst="rect">
            <a:avLst/>
          </a:prstGeom>
          <a:solidFill>
            <a:srgbClr val="F5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1214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7"/>
                </a:solidFill>
                <a:latin typeface="Pretendard"/>
              </a:rPr>
              <a:t>Geo-conquesting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532888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경쟁 매장 인근 사용자 감지 → 해요체 톤의 대체 스튜디오 초대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메시지를 ElbeeAgent가 즉시 생성.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86400" cy="19202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261104"/>
            <a:ext cx="54864" cy="38404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224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7"/>
                </a:solidFill>
                <a:latin typeface="Pretendard"/>
              </a:rPr>
              <a:t>상권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636008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유동인구 + 인구통계로 "어디에 다음 매장을 열 것인가" 답변.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지역 인덱스(성수 · 강남 · 홍대 ...)가 리테일 파일럿에 반영.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023360"/>
            <a:ext cx="5486400" cy="19202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261104"/>
            <a:ext cx="54864" cy="384048"/>
          </a:xfrm>
          <a:prstGeom prst="rect">
            <a:avLst/>
          </a:prstGeom>
          <a:solidFill>
            <a:srgbClr val="F5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224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7"/>
                </a:solidFill>
                <a:latin typeface="Pretendard"/>
              </a:rPr>
              <a:t>물류 · 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636008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실시간 날씨 + 교통으로 실내 / 야외 클래스 재정렬.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weather="rain" → weather_indoor=true 자동 필터.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05 · OCR 인테이크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7"/>
                </a:solidFill>
                <a:latin typeface="Pretendard"/>
              </a:rPr>
              <a:t>도서 스캔에서 28k 단어 지식베이스까지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858000" cy="4389120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screenshots/*.png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OpenCV 전처리      → grayscale · adaptive threshold · deskew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pytesseract (KOR+ENG)  → 페이지별 raw text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정제 + 청킹 + 토픽 태깅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data/json/generative-engine-optimization/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├── ocr_database.json     (165 페이지 · 약 28k 단어)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├── page_index.json        (page_num → 정제 텍스트)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└── keyword_index.json     (역색인)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scripts/adapt_content.py  → content/*.md  (Jekyll, frontmatter)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scripts/integrate.py       → yoga-chatbot/references/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931920" cy="438912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9659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파이프라인 통계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37744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색인 페이지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237744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165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88036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단어 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288036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약 28,000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38328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인덱스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338328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page · keyword · platform · region · 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88620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워처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88620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watchdog 자동 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38912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재실행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438912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단일 명령: python ocr_pipeline.py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89204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출력 포맷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489204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JSON (API) + Markdown (Jekyll)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06 · 인메모리 스토어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7"/>
                </a:solidFill>
                <a:latin typeface="Pretendard"/>
              </a:rPr>
              <a:t>두 개의 스토어, 핫패스 외부 DB 0개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DD9C2"/>
                </a:solidFill>
                <a:latin typeface="Pretendard"/>
              </a:rPr>
              <a:t>GeoDataStore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loader.py · 165 OCR 페이지를 RAM에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소스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83464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ocr_database.json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인덱스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33756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page · keyword · platform · region · 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조회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84048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역색인 키워드 → 페이지 리스트 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리프레시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34340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lifespan startup 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사용처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84632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SearchService · RagService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965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C466"/>
                </a:solidFill>
                <a:latin typeface="Pretendard"/>
              </a:rPr>
              <a:t>YogaLocationStore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3317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location_service.py · 서울 8개 시드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83464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소스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83464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data/yoga_locations.json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33756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기하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33756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Haversine 근접도 (km)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84048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필터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84048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amenity · weather · type · district · tags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34340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라우팅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34340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weather=rain → weather_indoor=true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84632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사용처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84632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/search/locations · ElbeeAgent invite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07 · RAG +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7"/>
                </a:solidFill>
                <a:latin typeface="Pretendard"/>
              </a:rPr>
              <a:t>로컬 우선 생성, OpenAI 의존성 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315200" cy="3657600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ChatRequest{ query, history, geo_coord? }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SearchService.search()       → GeoDataStore top-k 페이지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RagService.build_context()   → ELBEE_SYSTEM_KO + 페이지 청크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LLMService.generate()        → httpx async POST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│                       Ollama :11434  (model = llama3)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ChatResponse{ answer, sources[], brand_logo, language="ko"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2880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9659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왜 로컬인가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37744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• 호출당 비용 0 — Ollama on-box.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01752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• PII / 헬스 데이터 외부 송신 없음.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65760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• llama3 → HyperCLOVA-X 무중단 교체.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29768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• /chat/stream 으로 SSE 점진 UX.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08 · 페르소나 엔진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7"/>
                </a:solidFill>
                <a:latin typeface="Pretendard"/>
              </a:rPr>
              <a:t>해요체 + 받침/조사 자동 결정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315200" cy="2377440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# templates.py — 받침으로 은/는, 이/가, 을/를 자동 선택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def josa(word: str, has_batchim: str, no_batchim: str) -&gt; str: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last = word[-1]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code = (ord(last) - 0xAC00) % 28 if 0xAC00 &lt;= ord(last) &lt;= 0xD7A3 else 0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return has_batchim if code else no_batchim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/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# 사용 예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msg = f"{studio}{josa(studio, '은', '는')} 지금 수련 가능해요."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# → "성수 elbee 요가 스튜디오는 지금 수련 가능해요."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2880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9659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Pretendard"/>
              </a:rPr>
              <a:t>ELBEE 페르소나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33172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• 기본 어투 해요체</a:t>
            </a:r>
          </a:p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• 브랜드 elbee.yogaman.club</a:t>
            </a:r>
          </a:p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• 근접 메시지</a:t>
            </a:r>
          </a:p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• 날씨 인지 라우팅</a:t>
            </a:r>
          </a:p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• few-shot 톤앤매너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샘플 invite_message (LocationSearchResponse)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3776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Pretendard"/>
              </a:rPr>
              <a:t>안녕하세요, elbee 멤버! 🙏 오늘 성수동은 근처 성수 elbee 요가 스튜디오에서</a:t>
            </a:r>
          </a:p>
          <a:p>
            <a:pPr algn="l"/>
            <a:r>
              <a:rPr sz="1400" b="0">
                <a:solidFill>
                  <a:srgbClr val="E6EDF7"/>
                </a:solidFill>
                <a:latin typeface="Pretendard"/>
              </a:rPr>
              <a:t>수련하실 기회가 생겼어요. 우천 시 실내 수업으로 자동 매칭됩니다.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09 · API 표면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7"/>
                </a:solidFill>
                <a:latin typeface="Pretendard"/>
              </a:rPr>
              <a:t>11개 라우트 · OpenAPI · Pydantic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97AA"/>
                </a:solidFill>
                <a:latin typeface="Pretendard"/>
              </a:rPr>
              <a:t>메서드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97AA"/>
                </a:solidFill>
                <a:latin typeface="Pretendard"/>
              </a:rPr>
              <a:t>경로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97AA"/>
                </a:solidFill>
                <a:latin typeface="Pretendard"/>
              </a:rPr>
              <a:t>설명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2199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Pretendard"/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2199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/chat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2199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RAG 채팅 — 해요체 답변 + 소스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8775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Pretendard"/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8775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/chat/stream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58775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SSE 스트리밍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5351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5351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/chat/health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95351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LLM + 데이터 스토어 헬스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9184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31927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Pretendard"/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31927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/search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31927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165 페이지 키워드 검색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5760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6850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68503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/search/suggest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68503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프리픽스 자동완성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2336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5079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05079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/search/filters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05079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platform · region · topic 목록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8912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41655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41655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/search/health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41655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인덱스 크기 + 준비 상태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5488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78231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Pretendard"/>
              </a:rPr>
              <a:t>POST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78231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/search/locations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78231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근접 / 어메니티 / 날씨 검색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2064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14807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514807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/docs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514807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Swagger UI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48640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5138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551383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/redoc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551383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ReDoc UI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85216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87959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GET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587959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/health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587959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앱 헬스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10 · 스키마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7"/>
                </a:solidFill>
                <a:latin typeface="Pretendard"/>
              </a:rPr>
              <a:t>Pydantic v2 — 타입 보장 · 검증 · OpenAPI 노출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ChatResponse {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answer: str,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sources: [{ page: int, snippet: str, topic: str }],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model: 'llama3',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brand_logo: HttpUrl,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language: 'ko'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LocationSearchResponse {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results: [YogaLocationResult{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id, name, type, district, address, lat, lng,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amenities[], tags[], weather_indoor: bool,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rating: float, distance_km: float,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  invite_message: str   # 해요체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}],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  total, message, brand, brand_logo</a:t>
            </a:r>
          </a:p>
          <a:p>
            <a:pPr algn="l"/>
            <a:r>
              <a:rPr sz="1000">
                <a:solidFill>
                  <a:srgbClr val="E6EDF7"/>
                </a:solidFill>
                <a:latin typeface="D2Coding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11 · 크로스플랫폼 트윈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7"/>
                </a:solidFill>
                <a:latin typeface="Pretendard"/>
              </a:rPr>
              <a:t>macOS 개발 → WSL2 / Win11 동등성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2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97AA"/>
                </a:solidFill>
                <a:latin typeface="Pretendard"/>
              </a:rP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0195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macOS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0195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Pretendard"/>
              </a:rPr>
              <a:t>Windows / WSL2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Tesseract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0487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/opt/homebrew/bin/tesseract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40487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C:\Program Files\Tesseract-OCR\tesseract.exe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0779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Ollama 엔드포인트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0779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http://localhost:11434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90779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http://host.docker.internal:11434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1071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줄바꿈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41071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LF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41071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git config core.autocrlf input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8620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1363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91363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python3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91363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python  (또는 WSL2의 python3)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8912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41655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부트스트랩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41655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brew install tesseract ollama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41655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D2Coding"/>
              </a:rPr>
              <a:t>wsl --install -d Ubuntu-22.04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12 · 로드맵 · 오픈 이슈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7"/>
                </a:solidFill>
                <a:latin typeface="Pretendard"/>
              </a:rPr>
              <a:t>출시된 것과 다음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7315200" cy="5943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7510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D9C2"/>
                </a:solidFill>
                <a:latin typeface="Pretendard"/>
              </a:rP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97510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7"/>
                </a:solidFill>
                <a:latin typeface="Pretendard"/>
              </a:rPr>
              <a:t>스캐폴드 + OCR 파이프라인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993392"/>
            <a:ext cx="493776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Pretendard"/>
              </a:rPr>
              <a:t>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42032"/>
            <a:ext cx="7315200" cy="5943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8833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D9C2"/>
                </a:solidFill>
                <a:latin typeface="Pretendard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68833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7"/>
                </a:solidFill>
                <a:latin typeface="Pretendard"/>
              </a:rPr>
              <a:t>165 페이지 인테이크 (약 28k 단어 색인)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706624"/>
            <a:ext cx="493776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Pretendard"/>
              </a:rPr>
              <a:t>완료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55264"/>
            <a:ext cx="7315200" cy="5943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0156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D9C2"/>
                </a:solidFill>
                <a:latin typeface="Pretendard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4015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7"/>
                </a:solidFill>
                <a:latin typeface="Pretendard"/>
              </a:rPr>
              <a:t>elbee.yogaman.club 브랜드 · 8개 스팟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3419856"/>
            <a:ext cx="493776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Pretendard"/>
              </a:rPr>
              <a:t>완료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68496"/>
            <a:ext cx="7315200" cy="5943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C466"/>
                </a:solidFill>
                <a:latin typeface="Pretendard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1148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7"/>
                </a:solidFill>
                <a:latin typeface="Pretendard"/>
              </a:rPr>
              <a:t>다중 도서 확장 + 매니페스트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4133088"/>
            <a:ext cx="493776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5C466"/>
                </a:solidFill>
                <a:latin typeface="Pretendard"/>
              </a:rPr>
              <a:t>다음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81728"/>
            <a:ext cx="7315200" cy="5943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280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97AA"/>
                </a:solidFill>
                <a:latin typeface="Pretendard"/>
              </a:rP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82803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7"/>
                </a:solidFill>
                <a:latin typeface="Pretendard"/>
              </a:rPr>
              <a:t>GitHub Actions CI (OCR 린트 + 스키마)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4846320"/>
            <a:ext cx="493776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8B97AA"/>
                </a:solidFill>
                <a:latin typeface="Pretendard"/>
              </a:rPr>
              <a:t>계획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94960"/>
            <a:ext cx="7315200" cy="5943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4126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97AA"/>
                </a:solidFill>
                <a:latin typeface="Pretendard"/>
              </a:rPr>
              <a:t>Phase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54126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7"/>
                </a:solidFill>
                <a:latin typeface="Pretendard"/>
              </a:rPr>
              <a:t>고용주용 데모 패키지 + 라이브 배포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5559552"/>
            <a:ext cx="493776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8B97AA"/>
                </a:solidFill>
                <a:latin typeface="Pretendard"/>
              </a:rPr>
              <a:t>계획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828800"/>
            <a:ext cx="3474720" cy="429768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9659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Pretendard"/>
              </a:rPr>
              <a:t>오픈 이슈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3774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• #1  SSOT 아키텍처 (이 자료의 출처)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9260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• #3  60초 세로 스토리보드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4747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Pretendard"/>
              </a:rPr>
              <a:t>• #4  한국어 NLP + GEO 기술스택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E6EDF7"/>
                </a:solidFill>
                <a:latin typeface="Pretendard"/>
              </a:rPr>
              <a:t>로컬 우선으로 만들었습니다.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8B97AA"/>
                </a:solidFill>
                <a:latin typeface="Pretendard"/>
              </a:rPr>
              <a:t>한국어 네이티브. AI가 인용. 확장 준비 완료.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37760"/>
            <a:ext cx="1901952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Pretendard"/>
              </a:rPr>
              <a:t>github.com/aiegoo/aeogeo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937760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5C466"/>
                </a:solidFill>
                <a:latin typeface="Pretendard"/>
              </a:rPr>
              <a:t>elbee.yogaman.club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