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D9C2"/>
                </a:solidFill>
                <a:latin typeface="Inter"/>
              </a:rPr>
              <a:t>AEOGEO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0" b="1">
                <a:solidFill>
                  <a:srgbClr val="E6EDF7"/>
                </a:solidFill>
                <a:latin typeface="Inter"/>
              </a:rPr>
              <a:t>The AI yoga curator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8B97AA"/>
                </a:solidFill>
                <a:latin typeface="Inter"/>
              </a:rPr>
              <a:t>Personalized class matching for every body —</a:t>
            </a:r>
          </a:p>
          <a:p>
            <a:pPr algn="l"/>
            <a:r>
              <a:rPr sz="2200" b="0">
                <a:solidFill>
                  <a:srgbClr val="8B97AA"/>
                </a:solidFill>
                <a:latin typeface="Inter"/>
              </a:rPr>
              <a:t>engineered to be cited by the AI assistants people now ask.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93776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000" b="1">
                <a:solidFill>
                  <a:srgbClr val="3DD9C2"/>
                </a:solidFill>
                <a:latin typeface="Inter"/>
              </a:rPr>
              <a:t>INVESTOR DECK · v1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493776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000" b="1">
                <a:solidFill>
                  <a:srgbClr val="F5C466"/>
                </a:solidFill>
                <a:latin typeface="Inter"/>
              </a:rPr>
              <a:t>AEO + GEO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035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B97AA"/>
                </a:solidFill>
                <a:latin typeface="Inter"/>
              </a:rPr>
              <a:t>yogaman.club  ·  match.yogaman.club  ·  elbee.yogaman.club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01 ·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6EDF7"/>
                </a:solidFill>
                <a:latin typeface="Inter"/>
              </a:rPr>
              <a:t>Yoga apps rank videos. They don't know your body.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57400"/>
            <a:ext cx="54864" cy="822960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E6EDF7"/>
                </a:solidFill>
                <a:latin typeface="Inter"/>
              </a:rPr>
              <a:t>Generic ranking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688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B97AA"/>
                </a:solidFill>
                <a:latin typeface="Inter"/>
              </a:rPr>
              <a:t>Apps sort by difficulty or popularity — not by your spine, schedule, or goal.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108960"/>
            <a:ext cx="54864" cy="822960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E6EDF7"/>
                </a:solidFill>
                <a:latin typeface="Inter"/>
              </a:rPr>
              <a:t>No safety filter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20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B97AA"/>
                </a:solidFill>
                <a:latin typeface="Inter"/>
              </a:rPr>
              <a:t>Herniated disc? Hypertension? Pregnancy? Apps have no contraindication awareness.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160520"/>
            <a:ext cx="54864" cy="822960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1148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E6EDF7"/>
                </a:solidFill>
                <a:latin typeface="Inter"/>
              </a:rPr>
              <a:t>Discovery is broken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572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B97AA"/>
                </a:solidFill>
                <a:latin typeface="Inter"/>
              </a:rPr>
              <a:t>Users now ask ChatGPT, Perplexity, Naver Cue. Studios are invisible there.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212080"/>
            <a:ext cx="54864" cy="822960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66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E6EDF7"/>
                </a:solidFill>
                <a:latin typeface="Inter"/>
              </a:rPr>
              <a:t>Expert knowledge is trapped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6235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B97AA"/>
                </a:solidFill>
                <a:latin typeface="Inter"/>
              </a:rPr>
              <a:t>20-year instructors carry it in their heads. It never reaches the user.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Inter"/>
              </a:rPr>
              <a:t>aeogeo · yogaman.club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Inter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02 ·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6EDF7"/>
                </a:solidFill>
                <a:latin typeface="Inter"/>
              </a:rPr>
              <a:t>A match engine for your body, schedule, and goals.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3611880" cy="329184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 w="12700"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3DD9C2"/>
                </a:solidFill>
                <a:latin typeface="Inter"/>
              </a:rPr>
              <a:t>ASK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971800"/>
            <a:ext cx="365760" cy="45720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200400"/>
            <a:ext cx="2971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E6EDF7"/>
                </a:solidFill>
                <a:latin typeface="Inter"/>
              </a:rPr>
              <a:t>Plain language.</a:t>
            </a:r>
          </a:p>
          <a:p>
            <a:pPr algn="l"/>
            <a:r>
              <a:rPr sz="1800" b="0">
                <a:solidFill>
                  <a:srgbClr val="E6EDF7"/>
                </a:solidFill>
                <a:latin typeface="Inter"/>
              </a:rPr>
              <a:t>"I have a stiff back and 30 minutes after work."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194560"/>
            <a:ext cx="3611880" cy="329184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 w="12700"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51460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C466"/>
                </a:solidFill>
                <a:latin typeface="Inter"/>
              </a:rPr>
              <a:t>MATCH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09160" y="2971800"/>
            <a:ext cx="365760" cy="45720"/>
          </a:xfrm>
          <a:prstGeom prst="rect">
            <a:avLst/>
          </a:prstGeom>
          <a:solidFill>
            <a:srgbClr val="F5C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3200400"/>
            <a:ext cx="2971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E6EDF7"/>
                </a:solidFill>
                <a:latin typeface="Inter"/>
              </a:rPr>
              <a:t>AI ranks classes with a transparent score and a cited reason.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194560"/>
            <a:ext cx="3611880" cy="329184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 w="12700"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251460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3DD9C2"/>
                </a:solidFill>
                <a:latin typeface="Inter"/>
              </a:rPr>
              <a:t>BE FOUND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49640" y="2971800"/>
            <a:ext cx="365760" cy="45720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3200400"/>
            <a:ext cx="2971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E6EDF7"/>
                </a:solidFill>
                <a:latin typeface="Inter"/>
              </a:rPr>
              <a:t>Same data is published as JSON-LD so AI assistants cite us.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Inter"/>
              </a:rPr>
              <a:t>aeogeo · yogaman.club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Inter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03 · LIVE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6EDF7"/>
                </a:solidFill>
                <a:latin typeface="Inter"/>
              </a:rPr>
              <a:t>match.yogaman.club — try it yourself.</a:t>
            </a:r>
          </a:p>
        </p:txBody>
      </p:sp>
      <p:pic>
        <p:nvPicPr>
          <p:cNvPr id="6" name="Picture 5" descr="shot_04_ran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6949440" cy="39090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0" y="201168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WHAT YOU SEE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0" y="2542032"/>
            <a:ext cx="45720" cy="201168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2440" y="24688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6EDF7"/>
                </a:solidFill>
                <a:latin typeface="Inter"/>
              </a:rPr>
              <a:t>Natural language input (no menus)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3044952"/>
            <a:ext cx="45720" cy="201168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2971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6EDF7"/>
                </a:solidFill>
                <a:latin typeface="Inter"/>
              </a:rPr>
              <a:t>Top-3 ranked classes in &lt;500 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3547872"/>
            <a:ext cx="45720" cy="201168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9244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6EDF7"/>
                </a:solidFill>
                <a:latin typeface="Inter"/>
              </a:rPr>
              <a:t>Per-result score breakdown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4050792"/>
            <a:ext cx="45720" cy="201168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3977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6EDF7"/>
                </a:solidFill>
                <a:latin typeface="Inter"/>
              </a:rPr>
              <a:t>Why-this-match expert reasoning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4553712"/>
            <a:ext cx="45720" cy="201168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44805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6EDF7"/>
                </a:solidFill>
                <a:latin typeface="Inter"/>
              </a:rPr>
              <a:t>Same answer JSON-LD-published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Inter"/>
              </a:rPr>
              <a:t>aeogeo · yogaman.club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Inter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04 · MARKET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6EDF7"/>
                </a:solidFill>
                <a:latin typeface="Inter"/>
              </a:rPr>
              <a:t>Yoga is a $115B global market — and AI search is rewriting discovery.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3703320" cy="237744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B97AA"/>
                </a:solidFill>
                <a:latin typeface="Inter"/>
              </a:rPr>
              <a:t>TAM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3703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>
                <a:solidFill>
                  <a:srgbClr val="E6EDF7"/>
                </a:solidFill>
                <a:latin typeface="Inter"/>
              </a:rPr>
              <a:t>$115B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9476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B97AA"/>
                </a:solidFill>
                <a:latin typeface="Inter"/>
              </a:rPr>
              <a:t>Global yoga &amp; wellness (2025, IBISWorld)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103120"/>
            <a:ext cx="3703320" cy="237744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2377440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B97AA"/>
                </a:solidFill>
                <a:latin typeface="Inter"/>
              </a:rPr>
              <a:t>SAM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743200"/>
            <a:ext cx="3703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>
                <a:solidFill>
                  <a:srgbClr val="E6EDF7"/>
                </a:solidFill>
                <a:latin typeface="Inter"/>
              </a:rPr>
              <a:t>$8.4B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79476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B97AA"/>
                </a:solidFill>
                <a:latin typeface="Inter"/>
              </a:rPr>
              <a:t>Asia-Pacific online yoga &amp; coaching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103120"/>
            <a:ext cx="3703320" cy="237744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0" y="2377440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B97AA"/>
                </a:solidFill>
                <a:latin typeface="Inter"/>
              </a:rPr>
              <a:t>SOM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2743200"/>
            <a:ext cx="3703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>
                <a:solidFill>
                  <a:srgbClr val="3DD9C2"/>
                </a:solidFill>
                <a:latin typeface="Inter"/>
              </a:rPr>
              <a:t>$240M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79476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B97AA"/>
                </a:solidFill>
                <a:latin typeface="Inter"/>
              </a:rPr>
              <a:t>Korea + Japan AI-personalized fitness · 3-yr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377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B97AA"/>
                </a:solidFill>
                <a:latin typeface="Inter"/>
              </a:rPr>
              <a:t>AI-driven discovery shift: 39% of consumers now use an AI assistant</a:t>
            </a:r>
          </a:p>
          <a:p>
            <a:pPr algn="l"/>
            <a:r>
              <a:rPr sz="1400" b="0">
                <a:solidFill>
                  <a:srgbClr val="8B97AA"/>
                </a:solidFill>
                <a:latin typeface="Inter"/>
              </a:rPr>
              <a:t>to research wellness purchases (Edelman, 2026). Studios listed in</a:t>
            </a:r>
          </a:p>
          <a:p>
            <a:pPr algn="l"/>
            <a:r>
              <a:rPr sz="1400" b="0">
                <a:solidFill>
                  <a:srgbClr val="8B97AA"/>
                </a:solidFill>
                <a:latin typeface="Inter"/>
              </a:rPr>
              <a:t>AEO-structured indexes get 3.2× the citation rate.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Inter"/>
              </a:rPr>
              <a:t>aeogeo · yogaman.club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Inter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05 · PRODUCT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6EDF7"/>
                </a:solidFill>
                <a:latin typeface="Inter"/>
              </a:rPr>
              <a:t>Three surfaces, one knowledge graph.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11064240" cy="118872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3DD9C2"/>
                </a:solidFill>
                <a:latin typeface="JetBrains Mono"/>
              </a:rPr>
              <a:t>match.yogaman.club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4320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E6EDF7"/>
                </a:solidFill>
                <a:latin typeface="Inter"/>
              </a:rPr>
              <a:t>Consumer · class match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51460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0">
                <a:solidFill>
                  <a:srgbClr val="8B97AA"/>
                </a:solidFill>
                <a:latin typeface="Inter"/>
              </a:rPr>
              <a:t>Web app · 8 verified studios · live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29000"/>
            <a:ext cx="11064240" cy="118872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65760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3DD9C2"/>
                </a:solidFill>
                <a:latin typeface="JetBrains Mono"/>
              </a:rPr>
              <a:t>elbee.yogaman.club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0690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E6EDF7"/>
                </a:solidFill>
                <a:latin typeface="Inter"/>
              </a:rPr>
              <a:t>Knowledge · OCR + AI yoga assistant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840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0">
                <a:solidFill>
                  <a:srgbClr val="8B97AA"/>
                </a:solidFill>
                <a:latin typeface="Inter"/>
              </a:rPr>
              <a:t>20 yrs of instructor data · cited answers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754880"/>
            <a:ext cx="11064240" cy="118872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98348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3DD9C2"/>
                </a:solidFill>
                <a:latin typeface="JetBrains Mono"/>
              </a:rPr>
              <a:t>aeo.geo / JSON-LD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3949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E6EDF7"/>
                </a:solidFill>
                <a:latin typeface="Inter"/>
              </a:rPr>
              <a:t>Distribution · structured data feed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1663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0">
                <a:solidFill>
                  <a:srgbClr val="8B97AA"/>
                </a:solidFill>
                <a:latin typeface="Inter"/>
              </a:rPr>
              <a:t>Indexed by Google AI Overviews + Naver Cue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Inter"/>
              </a:rPr>
              <a:t>aeogeo · yogaman.club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Inter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06 · TECH &amp; MOAT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6EDF7"/>
                </a:solidFill>
                <a:latin typeface="Inter"/>
              </a:rPr>
              <a:t>Why this is hard to copy.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000" b="1">
                <a:solidFill>
                  <a:srgbClr val="3DD9C2"/>
                </a:solidFill>
                <a:latin typeface="Inter"/>
              </a:rPr>
              <a:t>MOAT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0116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E6EDF7"/>
                </a:solidFill>
                <a:latin typeface="Inter"/>
              </a:rPr>
              <a:t>Proprietary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46888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B97AA"/>
                </a:solidFill>
                <a:latin typeface="Inter"/>
              </a:rPr>
              <a:t>20 years of Korean instructor knowledge — OCR'd, tagged, contraindication-indexed.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63240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000" b="1">
                <a:solidFill>
                  <a:srgbClr val="3DD9C2"/>
                </a:solidFill>
                <a:latin typeface="Inter"/>
              </a:rPr>
              <a:t>MOAT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9718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E6EDF7"/>
                </a:solidFill>
                <a:latin typeface="Inter"/>
              </a:rPr>
              <a:t>Agentic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42900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B97AA"/>
                </a:solidFill>
                <a:latin typeface="Inter"/>
              </a:rPr>
              <a:t>LangGraph + LlamaIndex + CrewAI — three-agent crew per query, sub-500 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23360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000" b="1">
                <a:solidFill>
                  <a:srgbClr val="3DD9C2"/>
                </a:solidFill>
                <a:latin typeface="Inter"/>
              </a:rPr>
              <a:t>MOAT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931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E6EDF7"/>
                </a:solidFill>
                <a:latin typeface="Inter"/>
              </a:rPr>
              <a:t>AEO-native publishing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38912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B97AA"/>
                </a:solidFill>
                <a:latin typeface="Inter"/>
              </a:rPr>
              <a:t>Every answer is also a JSON-LD record — built to be cited by LLMs from day one.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83480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000" b="1">
                <a:solidFill>
                  <a:srgbClr val="3DD9C2"/>
                </a:solidFill>
                <a:latin typeface="Inter"/>
              </a:rPr>
              <a:t>MOAT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892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E6EDF7"/>
                </a:solidFill>
                <a:latin typeface="Inter"/>
              </a:rPr>
              <a:t>Local-first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534924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B97AA"/>
                </a:solidFill>
                <a:latin typeface="Inter"/>
              </a:rPr>
              <a:t>Ollama runtime, no per-query API cost, data privacy preserved.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Inter"/>
              </a:rPr>
              <a:t>aeogeo · yogaman.club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Inter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07 · TRACTION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6EDF7"/>
                </a:solidFill>
                <a:latin typeface="Inter"/>
              </a:rPr>
              <a:t>What's live today.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2743200" cy="1828800"/>
          </a:xfrm>
          <a:prstGeom prst="roundRect">
            <a:avLst>
              <a:gd name="adj" fmla="val 6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46888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3DD9C2"/>
                </a:solidFill>
                <a:latin typeface="Inter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8B97AA"/>
                </a:solidFill>
                <a:latin typeface="Inter"/>
              </a:rPr>
              <a:t>Verified studios live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0712" y="2103120"/>
            <a:ext cx="2743200" cy="1828800"/>
          </a:xfrm>
          <a:prstGeom prst="roundRect">
            <a:avLst>
              <a:gd name="adj" fmla="val 6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246888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E6EDF7"/>
                </a:solidFill>
                <a:latin typeface="Inter"/>
              </a:rPr>
              <a:t>20 yrs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33832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8B97AA"/>
                </a:solidFill>
                <a:latin typeface="Inter"/>
              </a:rPr>
              <a:t>Instructor data ingested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2784" y="2103120"/>
            <a:ext cx="2743200" cy="1828800"/>
          </a:xfrm>
          <a:prstGeom prst="roundRect">
            <a:avLst>
              <a:gd name="adj" fmla="val 6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2784" y="246888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3DD9C2"/>
                </a:solidFill>
                <a:latin typeface="Inter"/>
              </a:rPr>
              <a:t>&lt;500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2784" y="33832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8B97AA"/>
                </a:solidFill>
                <a:latin typeface="Inter"/>
              </a:rPr>
              <a:t>P95 match latency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34856" y="2103120"/>
            <a:ext cx="2743200" cy="1828800"/>
          </a:xfrm>
          <a:prstGeom prst="roundRect">
            <a:avLst>
              <a:gd name="adj" fmla="val 6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46888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E6EDF7"/>
                </a:solidFill>
                <a:latin typeface="Inter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4856" y="33832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8B97AA"/>
                </a:solidFill>
                <a:latin typeface="Inter"/>
              </a:rPr>
              <a:t>Surfaces shipped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NEXT 90 DAYS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937760"/>
            <a:ext cx="457200" cy="45720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12064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6EDF7"/>
                </a:solidFill>
                <a:latin typeface="Inter"/>
              </a:rPr>
              <a:t>Onboard 50 studios in Seoul · ship Naver Cue feed · launch waitlist for B2C</a:t>
            </a:r>
          </a:p>
          <a:p>
            <a:pPr algn="l"/>
            <a:r>
              <a:rPr sz="1400" b="0">
                <a:solidFill>
                  <a:srgbClr val="E6EDF7"/>
                </a:solidFill>
                <a:latin typeface="Inter"/>
              </a:rPr>
              <a:t>subscription · close pilot with 1 rehab clinic chain.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Inter"/>
              </a:rPr>
              <a:t>aeogeo · yogaman.club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Inter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08 · BUSINESS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6EDF7"/>
                </a:solidFill>
                <a:latin typeface="Inter"/>
              </a:rPr>
              <a:t>Three revenue lanes, one engine.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3611880" cy="329184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5C466"/>
                </a:solidFill>
                <a:latin typeface="Inter"/>
              </a:rPr>
              <a:t>B2B SaaS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0"/>
            <a:ext cx="3611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E6EDF7"/>
                </a:solidFill>
                <a:latin typeface="Inter"/>
              </a:rPr>
              <a:t>Studios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3657600"/>
            <a:ext cx="365760" cy="45720"/>
          </a:xfrm>
          <a:prstGeom prst="rect">
            <a:avLst/>
          </a:prstGeom>
          <a:solidFill>
            <a:srgbClr val="F5C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886200"/>
            <a:ext cx="2971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B97AA"/>
                </a:solidFill>
                <a:latin typeface="Inter"/>
              </a:rPr>
              <a:t>₩89,000/mo per studio for the AEO-listed</a:t>
            </a:r>
          </a:p>
          <a:p>
            <a:pPr algn="l"/>
            <a:r>
              <a:rPr sz="1300" b="0">
                <a:solidFill>
                  <a:srgbClr val="8B97AA"/>
                </a:solidFill>
                <a:latin typeface="Inter"/>
              </a:rPr>
              <a:t>match profile + leads dashboard.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194560"/>
            <a:ext cx="3611880" cy="329184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2514600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5C466"/>
                </a:solidFill>
                <a:latin typeface="Inter"/>
              </a:rPr>
              <a:t>B2C Subscription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926080"/>
            <a:ext cx="3611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E6EDF7"/>
                </a:solidFill>
                <a:latin typeface="Inter"/>
              </a:rPr>
              <a:t>Practitioners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3657600"/>
            <a:ext cx="365760" cy="45720"/>
          </a:xfrm>
          <a:prstGeom prst="rect">
            <a:avLst/>
          </a:prstGeom>
          <a:solidFill>
            <a:srgbClr val="F5C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3886200"/>
            <a:ext cx="2971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B97AA"/>
                </a:solidFill>
                <a:latin typeface="Inter"/>
              </a:rPr>
              <a:t>₩9,900/mo for the personalized class plan,</a:t>
            </a:r>
          </a:p>
          <a:p>
            <a:pPr algn="l"/>
            <a:r>
              <a:rPr sz="1300" b="0">
                <a:solidFill>
                  <a:srgbClr val="8B97AA"/>
                </a:solidFill>
                <a:latin typeface="Inter"/>
              </a:rPr>
              <a:t>elbee chat, and contraindication safety check.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194560"/>
            <a:ext cx="3611880" cy="329184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2514600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5C466"/>
                </a:solidFill>
                <a:latin typeface="Inter"/>
              </a:rPr>
              <a:t>API /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2926080"/>
            <a:ext cx="3611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E6EDF7"/>
                </a:solidFill>
                <a:latin typeface="Inter"/>
              </a:rPr>
              <a:t>Insurers, clinics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49640" y="3657600"/>
            <a:ext cx="365760" cy="45720"/>
          </a:xfrm>
          <a:prstGeom prst="rect">
            <a:avLst/>
          </a:prstGeom>
          <a:solidFill>
            <a:srgbClr val="F5C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9640" y="3886200"/>
            <a:ext cx="2971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B97AA"/>
                </a:solidFill>
                <a:latin typeface="Inter"/>
              </a:rPr>
              <a:t>Per-call licensing of the contraindication</a:t>
            </a:r>
          </a:p>
          <a:p>
            <a:pPr algn="l"/>
            <a:r>
              <a:rPr sz="1300" b="0">
                <a:solidFill>
                  <a:srgbClr val="8B97AA"/>
                </a:solidFill>
                <a:latin typeface="Inter"/>
              </a:rPr>
              <a:t>index and pose-safety scoring API.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Inter"/>
              </a:rPr>
              <a:t>aeogeo · yogaman.club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Inter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09 · GO-TO-MARKET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6EDF7"/>
                </a:solidFill>
                <a:latin typeface="Inter"/>
              </a:rPr>
              <a:t>Land studios → harvest queries → power consumer growth.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2743200" cy="310896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3DD9C2"/>
                </a:solidFill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E6EDF7"/>
                </a:solidFill>
                <a:latin typeface="Inter"/>
              </a:rPr>
              <a:t>Land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3566160"/>
            <a:ext cx="320040" cy="45720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749040"/>
            <a:ext cx="2103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B97AA"/>
                </a:solidFill>
                <a:latin typeface="Inter"/>
              </a:rPr>
              <a:t>Free onboarding for the first 50 Seoul studios. We do the AEO setup.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2194560"/>
            <a:ext cx="2743200" cy="310896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0752" y="24688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3DD9C2"/>
                </a:solidFill>
                <a:latin typeface="Inter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0752" y="283464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E6EDF7"/>
                </a:solidFill>
                <a:latin typeface="Inter"/>
              </a:rPr>
              <a:t>Index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30752" y="3566160"/>
            <a:ext cx="320040" cy="45720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30752" y="3749040"/>
            <a:ext cx="2103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B97AA"/>
                </a:solidFill>
                <a:latin typeface="Inter"/>
              </a:rPr>
              <a:t>Their classes get JSON-LD published; AI assistants start citing them.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2784" y="2194560"/>
            <a:ext cx="2743200" cy="310896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2824" y="24688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3DD9C2"/>
                </a:solidFill>
                <a:latin typeface="Inter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83464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E6EDF7"/>
                </a:solidFill>
                <a:latin typeface="Inter"/>
              </a:rPr>
              <a:t>Match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2824" y="3566160"/>
            <a:ext cx="320040" cy="45720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92824" y="3749040"/>
            <a:ext cx="2103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B97AA"/>
                </a:solidFill>
                <a:latin typeface="Inter"/>
              </a:rPr>
              <a:t>Practitioners arrive via AI-driven discovery + organic search.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34856" y="2194560"/>
            <a:ext cx="2743200" cy="310896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4896" y="24688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3DD9C2"/>
                </a:solidFill>
                <a:latin typeface="Inter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54896" y="283464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E6EDF7"/>
                </a:solidFill>
                <a:latin typeface="Inter"/>
              </a:rPr>
              <a:t>Subscribe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54896" y="3566160"/>
            <a:ext cx="320040" cy="45720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54896" y="3749040"/>
            <a:ext cx="2103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B97AA"/>
                </a:solidFill>
                <a:latin typeface="Inter"/>
              </a:rPr>
              <a:t>Convert practitioners into ₩9,900/mo plans. Studios upgrade to paid.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Inter"/>
              </a:rPr>
              <a:t>aeogeo · yogaman.club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Inter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10 · TEAM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6EDF7"/>
                </a:solidFill>
                <a:latin typeface="Inter"/>
              </a:rPr>
              <a:t>Built by a 20-year instructor who became an AI engineer.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11064240" cy="2194560"/>
          </a:xfrm>
          <a:prstGeom prst="roundRect">
            <a:avLst>
              <a:gd name="adj" fmla="val 4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1554480" cy="1554480"/>
          </a:xfrm>
          <a:prstGeom prst="ellipse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0B1220"/>
                </a:solidFill>
                <a:latin typeface="Inter"/>
              </a:rPr>
              <a:t>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233172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3DD9C2"/>
                </a:solidFill>
                <a:latin typeface="Inter"/>
              </a:rPr>
              <a:t>Founder · CEO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69748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E6EDF7"/>
                </a:solidFill>
                <a:latin typeface="Inter"/>
              </a:rPr>
              <a:t>Hyun-jin Yoo (유현진)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33756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B97AA"/>
                </a:solidFill>
                <a:latin typeface="Inter"/>
              </a:rPr>
              <a:t>20-year certified yoga instructor · self-taught full-stack + AI engineer ·</a:t>
            </a:r>
          </a:p>
          <a:p>
            <a:pPr algn="l"/>
            <a:r>
              <a:rPr sz="1200" b="0">
                <a:solidFill>
                  <a:srgbClr val="8B97AA"/>
                </a:solidFill>
                <a:latin typeface="Inter"/>
              </a:rPr>
              <a:t>Built and shipped match / elbee / AEO stack solo. Korean &amp; English bilingual.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HIRING NEXT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937760"/>
            <a:ext cx="457200" cy="45720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12064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6EDF7"/>
                </a:solidFill>
                <a:latin typeface="Inter"/>
              </a:rPr>
              <a:t>· Senior ML engineer (RAG / agentic pipelines)</a:t>
            </a:r>
          </a:p>
          <a:p>
            <a:pPr algn="l"/>
            <a:r>
              <a:rPr sz="1400" b="0">
                <a:solidFill>
                  <a:srgbClr val="E6EDF7"/>
                </a:solidFill>
                <a:latin typeface="Inter"/>
              </a:rPr>
              <a:t>· Studio partnerships lead (Seoul) · Designer (web + brand)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Inter"/>
              </a:rPr>
              <a:t>aeogeo · yogaman.club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Inter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11 · THE 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6EDF7"/>
                </a:solidFill>
                <a:latin typeface="Inter"/>
              </a:rPr>
              <a:t>We're raising a pre-seed round.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6858000" cy="3840480"/>
          </a:xfrm>
          <a:prstGeom prst="roundRect">
            <a:avLst>
              <a:gd name="adj" fmla="val 4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C466"/>
                </a:solidFill>
                <a:latin typeface="Inter"/>
              </a:rPr>
              <a:t>RAISING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6400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800" b="1">
                <a:solidFill>
                  <a:srgbClr val="E6EDF7"/>
                </a:solidFill>
                <a:latin typeface="Inter"/>
              </a:rPr>
              <a:t>$500K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846320"/>
            <a:ext cx="6400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3DD9C2"/>
                </a:solidFill>
                <a:latin typeface="Inter"/>
              </a:rPr>
              <a:t>Pre-seed · 18-month runway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1945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USE OF FUNDS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0" y="2560320"/>
            <a:ext cx="457200" cy="45720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283464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6EDF7"/>
                </a:solidFill>
                <a:latin typeface="Inter"/>
              </a:rPr>
              <a:t>Engineering hires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2834640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3DD9C2"/>
                </a:solidFill>
                <a:latin typeface="Inter"/>
              </a:rPr>
              <a:t>55%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3375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6EDF7"/>
                </a:solidFill>
                <a:latin typeface="Inter"/>
              </a:rPr>
              <a:t>Studio partnerships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3337560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3DD9C2"/>
                </a:solidFill>
                <a:latin typeface="Inter"/>
              </a:rPr>
              <a:t>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8404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6EDF7"/>
                </a:solidFill>
                <a:latin typeface="Inter"/>
              </a:rPr>
              <a:t>Brand &amp; content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3840480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3DD9C2"/>
                </a:solidFill>
                <a:latin typeface="Inter"/>
              </a:rPr>
              <a:t>15%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43434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6EDF7"/>
                </a:solidFill>
                <a:latin typeface="Inter"/>
              </a:rPr>
              <a:t>Infra &amp;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4343400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3DD9C2"/>
                </a:solidFill>
                <a:latin typeface="Inter"/>
              </a:rPr>
              <a:t>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Inter"/>
              </a:rPr>
              <a:t>aeogeo · yogaman.club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Inter"/>
              </a:rPr>
              <a:t>12 /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972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00" b="1">
                <a:solidFill>
                  <a:srgbClr val="E6EDF7"/>
                </a:solidFill>
                <a:latin typeface="Inter"/>
              </a:rPr>
              <a:t>Let's build the AI yoga curator.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DD9C2"/>
                </a:solidFill>
                <a:latin typeface="Inter"/>
              </a:rPr>
              <a:t>Thank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12064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B97AA"/>
                </a:solidFill>
                <a:latin typeface="Inter"/>
              </a:rPr>
              <a:t>yogaman.club  ·  match.yogaman.club  ·  elbee.yogaman.club</a:t>
            </a:r>
          </a:p>
          <a:p>
            <a:pPr algn="l"/>
            <a:r>
              <a:rPr sz="1400" b="0">
                <a:solidFill>
                  <a:srgbClr val="8B97AA"/>
                </a:solidFill>
                <a:latin typeface="Inter"/>
              </a:rPr>
              <a:t>hello@yogaman.club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