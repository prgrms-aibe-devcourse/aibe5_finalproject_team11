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D9C2"/>
                </a:solidFill>
                <a:latin typeface="Pretendard"/>
              </a:rPr>
              <a:t>AEOGEO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400" b="1">
                <a:solidFill>
                  <a:srgbClr val="E6EDF7"/>
                </a:solidFill>
                <a:latin typeface="Pretendard"/>
              </a:rPr>
              <a:t>AI 요가 큐레이터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5156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8B97AA"/>
                </a:solidFill>
                <a:latin typeface="Pretendard"/>
              </a:rPr>
              <a:t>당신의 몸·일정·목표에 맞춘 요가 매칭.</a:t>
            </a:r>
          </a:p>
          <a:p>
            <a:pPr algn="l"/>
            <a:r>
              <a:rPr sz="2200" b="0">
                <a:solidFill>
                  <a:srgbClr val="8B97AA"/>
                </a:solidFill>
                <a:latin typeface="Pretendard"/>
              </a:rPr>
              <a:t>그리고 AI 어시스턴트가 추천하도록 설계된 데이터.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12064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Pretendard"/>
              </a:rPr>
              <a:t>투자제안서 · v1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5120640"/>
            <a:ext cx="1115568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F5C466"/>
                </a:solidFill>
                <a:latin typeface="Pretendard"/>
              </a:rPr>
              <a:t>AEO + GEO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Pretendard"/>
              </a:rPr>
              <a:t>yogaman.club  ·  match.yogaman.club  ·  elbee.yogaman.club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01 ·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Pretendard"/>
              </a:rPr>
              <a:t>요가 앱은 영상을 줄세울 뿐, 사용자의 몸을 모릅니다.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54864" cy="86868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Pretendard"/>
              </a:rPr>
              <a:t>획일적 추천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468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난이도와 인기 순으로 정렬할 뿐, 척추·일정·목표를 보지 않습니다.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108960"/>
            <a:ext cx="54864" cy="86868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0632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Pretendard"/>
              </a:rPr>
              <a:t>안전 필터 부재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520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디스크, 고혈압, 임신 등 금기사항을 인지하지 못합니다.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54864" cy="86868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14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Pretendard"/>
              </a:rPr>
              <a:t>발견 채널의 변화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5720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사용자는 이제 ChatGPT·Perplexity·Naver Cue에 묻습니다.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그 안에서 스튜디오는 보이지 않습니다.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5212080"/>
            <a:ext cx="54864" cy="86868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51663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Pretendard"/>
              </a:rPr>
              <a:t>전문가 지식의 단절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2356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20년차 강사의 노하우가 사용자에게 닿지 않습니다.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02 · 솔루션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Pretendard"/>
              </a:rPr>
              <a:t>몸·일정·목표를 위한 매칭 엔진.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 w="12700"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9C2"/>
                </a:solidFill>
                <a:latin typeface="Pretendard"/>
              </a:rPr>
              <a:t>ASK · 질문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2971800"/>
            <a:ext cx="36576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971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6EDF7"/>
                </a:solidFill>
                <a:latin typeface="Pretendard"/>
              </a:rPr>
              <a:t>자연어로 입력하세요.</a:t>
            </a:r>
          </a:p>
          <a:p>
            <a:pPr algn="l"/>
            <a:r>
              <a:rPr sz="1600" b="0">
                <a:solidFill>
                  <a:srgbClr val="E6EDF7"/>
                </a:solidFill>
                <a:latin typeface="Pretendard"/>
              </a:rPr>
              <a:t>"허리가 뻐근한데 퇴근 후 30분 가능해요."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 w="12700"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60" y="25146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C466"/>
                </a:solidFill>
                <a:latin typeface="Pretendard"/>
              </a:rPr>
              <a:t>MATCH · 추천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709160" y="2971800"/>
            <a:ext cx="365760" cy="45720"/>
          </a:xfrm>
          <a:prstGeom prst="rect">
            <a:avLst/>
          </a:prstGeom>
          <a:solidFill>
            <a:srgbClr val="F5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3200400"/>
            <a:ext cx="2971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6EDF7"/>
                </a:solidFill>
                <a:latin typeface="Pretendard"/>
              </a:rPr>
              <a:t>AI가 점수와 근거를 함께 보여주는</a:t>
            </a:r>
          </a:p>
          <a:p>
            <a:pPr algn="l"/>
            <a:r>
              <a:rPr sz="1600" b="0">
                <a:solidFill>
                  <a:srgbClr val="E6EDF7"/>
                </a:solidFill>
                <a:latin typeface="Pretendard"/>
              </a:rPr>
              <a:t>맞춤 클래스를 추천합니다.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9456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 w="12700"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49640" y="251460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9C2"/>
                </a:solidFill>
                <a:latin typeface="Pretendard"/>
              </a:rPr>
              <a:t>BE FOUND · 노출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2971800"/>
            <a:ext cx="36576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3200400"/>
            <a:ext cx="29718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E6EDF7"/>
                </a:solidFill>
                <a:latin typeface="Pretendard"/>
              </a:rPr>
              <a:t>동일한 데이터를 JSON-LD로 발행해</a:t>
            </a:r>
          </a:p>
          <a:p>
            <a:pPr algn="l"/>
            <a:r>
              <a:rPr sz="1600" b="0">
                <a:solidFill>
                  <a:srgbClr val="E6EDF7"/>
                </a:solidFill>
                <a:latin typeface="Pretendard"/>
              </a:rPr>
              <a:t>AI 어시스턴트가 우리를 인용합니다.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03 · 라이브 데모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Pretendard"/>
              </a:rPr>
              <a:t>match.yogaman.club — 지금 바로 사용해 보세요.</a:t>
            </a:r>
          </a:p>
        </p:txBody>
      </p:sp>
      <p:pic>
        <p:nvPicPr>
          <p:cNvPr id="6" name="Picture 5" descr="shot_03_typ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920240"/>
            <a:ext cx="3429000" cy="19288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885628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B97AA"/>
                </a:solidFill>
                <a:latin typeface="Pretendard"/>
              </a:rPr>
              <a:t>① 목표·조건 입력</a:t>
            </a:r>
          </a:p>
        </p:txBody>
      </p:sp>
      <p:pic>
        <p:nvPicPr>
          <p:cNvPr id="8" name="Picture 7" descr="shot_04_rank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920240"/>
            <a:ext cx="3429000" cy="192881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069080" y="3885628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B97AA"/>
                </a:solidFill>
                <a:latin typeface="Pretendard"/>
              </a:rPr>
              <a:t>② Top-3 추천</a:t>
            </a:r>
          </a:p>
        </p:txBody>
      </p:sp>
      <p:pic>
        <p:nvPicPr>
          <p:cNvPr id="10" name="Picture 9" descr="shot_05_breakdow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114800"/>
            <a:ext cx="3429000" cy="192881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8640" y="6080188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B97AA"/>
                </a:solidFill>
                <a:latin typeface="Pretendard"/>
              </a:rPr>
              <a:t>③ 점수 분해</a:t>
            </a:r>
          </a:p>
        </p:txBody>
      </p:sp>
      <p:pic>
        <p:nvPicPr>
          <p:cNvPr id="12" name="Picture 11" descr="shot_07_json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4114800"/>
            <a:ext cx="3429000" cy="192881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069080" y="6080188"/>
            <a:ext cx="3429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B97AA"/>
                </a:solidFill>
                <a:latin typeface="Pretendard"/>
              </a:rPr>
              <a:t>④ JSON-LD 발행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0116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보이는 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0" y="2542032"/>
            <a:ext cx="45720" cy="20116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2440" y="246888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Pretendard"/>
              </a:rPr>
              <a:t>자연어 입력 (메뉴 없음)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0" y="3044952"/>
            <a:ext cx="45720" cy="20116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297180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Pretendard"/>
              </a:rPr>
              <a:t>500ms 이내 Top-3 추천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63840" y="3547872"/>
            <a:ext cx="45720" cy="20116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92440" y="347472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Pretendard"/>
              </a:rPr>
              <a:t>결과별 점수 분해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0" y="4050792"/>
            <a:ext cx="45720" cy="20116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39776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Pretendard"/>
              </a:rPr>
              <a:t>왜 이 클래스인지 전문가 근거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63840" y="4553712"/>
            <a:ext cx="45720" cy="201168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44805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Pretendard"/>
              </a:rPr>
              <a:t>동일 답변을 JSON-LD로 발행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04 · 시장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Pretendard"/>
              </a:rPr>
              <a:t>글로벌 요가 시장 1,150억 달러. AI 검색이 발견의 룰을 다시 씁니다.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97AA"/>
                </a:solidFill>
                <a:latin typeface="Pretendard"/>
              </a:rPr>
              <a:t>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703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E6EDF7"/>
                </a:solidFill>
                <a:latin typeface="Pretendard"/>
              </a:rPr>
              <a:t>$115B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Pretendard"/>
              </a:rPr>
              <a:t>글로벌 요가·웰니스 (2025, IBISWorld)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10312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377440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97AA"/>
                </a:solidFill>
                <a:latin typeface="Pretendard"/>
              </a:rPr>
              <a:t>SAM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43200"/>
            <a:ext cx="3703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E6EDF7"/>
                </a:solidFill>
                <a:latin typeface="Pretendard"/>
              </a:rPr>
              <a:t>$8.4B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37947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Pretendard"/>
              </a:rPr>
              <a:t>아시아·태평양 온라인 요가·코칭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2103120"/>
            <a:ext cx="3703320" cy="23774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2377440"/>
            <a:ext cx="3703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8B97AA"/>
                </a:solidFill>
                <a:latin typeface="Pretendard"/>
              </a:rPr>
              <a:t>SOM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743200"/>
            <a:ext cx="37033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3DD9C2"/>
                </a:solidFill>
                <a:latin typeface="Pretendard"/>
              </a:rPr>
              <a:t>$240M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95360" y="3794760"/>
            <a:ext cx="3154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Pretendard"/>
              </a:rPr>
              <a:t>한·일 AI 맞춤 피트니스 · 3년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937760"/>
            <a:ext cx="109728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AI 기반 발견의 전환: 소비자의 39%가 웰니스 구매 전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AI 어시스턴트로 정보를 탐색합니다 (Edelman, 2026).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AEO 구조화된 인덱스에 등록된 스튜디오의 인용률은 3.2배 높습니다.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05 · 제품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Pretendard"/>
              </a:rPr>
              <a:t>세 개의 표면, 하나의 지식 그래프.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3172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D9C2"/>
                </a:solidFill>
                <a:latin typeface="JetBrains Mono"/>
              </a:rPr>
              <a:t>match.yogaman.club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EDF7"/>
                </a:solidFill>
                <a:latin typeface="Pretendard"/>
              </a:rPr>
              <a:t>소비자 · 클래스 매칭 엔진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51460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>
                <a:solidFill>
                  <a:srgbClr val="8B97AA"/>
                </a:solidFill>
                <a:latin typeface="Pretendard"/>
              </a:rPr>
              <a:t>웹앱 · 검증된 8개 스튜디오 · 운영 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D9C2"/>
                </a:solidFill>
                <a:latin typeface="JetBrains Mono"/>
              </a:rPr>
              <a:t>elbee.yogaman.club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690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EDF7"/>
                </a:solidFill>
                <a:latin typeface="Pretendard"/>
              </a:rPr>
              <a:t>지식 · OCR + AI 요가 어시스턴트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>
                <a:solidFill>
                  <a:srgbClr val="8B97AA"/>
                </a:solidFill>
                <a:latin typeface="Pretendard"/>
              </a:rPr>
              <a:t>20년 강사 데이터 · 인용 기반 답변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98348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3DD9C2"/>
                </a:solidFill>
                <a:latin typeface="JetBrains Mono"/>
              </a:rPr>
              <a:t>aeo.geo / JSON-LD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3949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E6EDF7"/>
                </a:solidFill>
                <a:latin typeface="Pretendard"/>
              </a:rPr>
              <a:t>유통 · 구조화 데이터 피드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516636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0">
                <a:solidFill>
                  <a:srgbClr val="8B97AA"/>
                </a:solidFill>
                <a:latin typeface="Pretendard"/>
              </a:rPr>
              <a:t>Google AI Overviews + Naver Cue 색인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06 · 기술과 해자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Pretendard"/>
              </a:rPr>
              <a:t>복제하기 어려운 이유.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Pretendard"/>
              </a:rPr>
              <a:t>MOAT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11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Pretendard"/>
              </a:rPr>
              <a:t>독자 데이터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468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20년치 한국 강사 노하우를 OCR·태깅·금기사항 인덱싱.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06324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Pretendard"/>
              </a:rPr>
              <a:t>MOAT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9718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Pretendard"/>
              </a:rPr>
              <a:t>에이전틱 파이프라인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429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LangGraph + LlamaIndex + CrewAI — 쿼리당 3-에이전트, 500ms 이하.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02336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Pretendard"/>
              </a:rPr>
              <a:t>MOAT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9319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Pretendard"/>
              </a:rPr>
              <a:t>AEO 네이티브 발행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3891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모든 답변이 JSON-LD 레코드. 처음부터 LLM이 인용하도록 설계.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83480"/>
            <a:ext cx="749808" cy="292608"/>
          </a:xfrm>
          <a:prstGeom prst="roundRect">
            <a:avLst>
              <a:gd name="adj" fmla="val 50000"/>
            </a:avLst>
          </a:prstGeom>
          <a:solidFill>
            <a:srgbClr val="16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rIns="109728" tIns="0" bIns="0"/>
          <a:lstStyle/>
          <a:p>
            <a:pPr algn="ctr"/>
            <a:r>
              <a:rPr sz="1000" b="1">
                <a:solidFill>
                  <a:srgbClr val="3DD9C2"/>
                </a:solidFill>
                <a:latin typeface="Pretendard"/>
              </a:rPr>
              <a:t>MOAT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89204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7"/>
                </a:solidFill>
                <a:latin typeface="Pretendard"/>
              </a:rPr>
              <a:t>로컬 우선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5349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Ollama 런타임 — 쿼리당 API 비용 0, 데이터 프라이버시 보존.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07 · 트랙션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Pretendard"/>
              </a:rPr>
              <a:t>지금 운영 중인 것.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3DD9C2"/>
                </a:solidFill>
                <a:latin typeface="Pretendard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B97AA"/>
                </a:solidFill>
                <a:latin typeface="Pretendard"/>
              </a:rPr>
              <a:t>검증 스튜디오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10712" y="21031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10712" y="24688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E6EDF7"/>
                </a:solidFill>
                <a:latin typeface="Pretendard"/>
              </a:rPr>
              <a:t>20년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0712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B97AA"/>
                </a:solidFill>
                <a:latin typeface="Pretendard"/>
              </a:rPr>
              <a:t>강사 데이터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4" y="21031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24688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3DD9C2"/>
                </a:solidFill>
                <a:latin typeface="Pretendard"/>
              </a:rPr>
              <a:t>&lt;500ms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B97AA"/>
                </a:solidFill>
                <a:latin typeface="Pretendard"/>
              </a:rPr>
              <a:t>P95 매칭 지연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34856" y="210312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34856" y="2468880"/>
            <a:ext cx="2743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E6EDF7"/>
                </a:solidFill>
                <a:latin typeface="Pretendard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4856" y="33832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8B97AA"/>
                </a:solidFill>
                <a:latin typeface="Pretendard"/>
              </a:rPr>
              <a:t>출시 채널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향후 90일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937760"/>
            <a:ext cx="45720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Pretendard"/>
              </a:rPr>
              <a:t>서울 50개 스튜디오 온보딩 · Naver Cue 피드 출시 · B2C 구독 대기열</a:t>
            </a:r>
          </a:p>
          <a:p>
            <a:pPr algn="l"/>
            <a:r>
              <a:rPr sz="1400" b="0">
                <a:solidFill>
                  <a:srgbClr val="E6EDF7"/>
                </a:solidFill>
                <a:latin typeface="Pretendard"/>
              </a:rPr>
              <a:t>오픈 · 재활클리닉 체인 1곳 파일럿 체결.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08 · 비즈니스 모델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Pretendard"/>
              </a:rPr>
              <a:t>세 개의 매출 라인, 하나의 엔진.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51460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Pretendard"/>
              </a:rPr>
              <a:t>B2B SaaS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3611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EDF7"/>
                </a:solidFill>
                <a:latin typeface="Pretendard"/>
              </a:rPr>
              <a:t>스튜디오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657600"/>
            <a:ext cx="365760" cy="45720"/>
          </a:xfrm>
          <a:prstGeom prst="rect">
            <a:avLst/>
          </a:prstGeom>
          <a:solidFill>
            <a:srgbClr val="F5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88620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월 89,000원 / 스튜디오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AEO 매칭 프로필 + 리드 대시보드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19456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51460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Pretendard"/>
              </a:rPr>
              <a:t>B2C 구독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926080"/>
            <a:ext cx="3611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EDF7"/>
                </a:solidFill>
                <a:latin typeface="Pretendard"/>
              </a:rPr>
              <a:t>수련자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09160" y="3657600"/>
            <a:ext cx="365760" cy="45720"/>
          </a:xfrm>
          <a:prstGeom prst="rect">
            <a:avLst/>
          </a:prstGeom>
          <a:solidFill>
            <a:srgbClr val="F5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09160" y="388620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월 9,900원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맞춤 클래스 플랜 + elbee 챗 + 안전 필터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94560"/>
            <a:ext cx="3611880" cy="329184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514600"/>
            <a:ext cx="3611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5C466"/>
                </a:solidFill>
                <a:latin typeface="Pretendard"/>
              </a:rPr>
              <a:t>API · 데이터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926080"/>
            <a:ext cx="3611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EDF7"/>
                </a:solidFill>
                <a:latin typeface="Pretendard"/>
              </a:rPr>
              <a:t>보험·재활클리닉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3657600"/>
            <a:ext cx="365760" cy="45720"/>
          </a:xfrm>
          <a:prstGeom prst="rect">
            <a:avLst/>
          </a:prstGeom>
          <a:solidFill>
            <a:srgbClr val="F5C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49640" y="3886200"/>
            <a:ext cx="2971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금기사항 인덱스 + 자세 안전성</a:t>
            </a:r>
          </a:p>
          <a:p>
            <a:pPr algn="l"/>
            <a:r>
              <a:rPr sz="1300" b="0">
                <a:solidFill>
                  <a:srgbClr val="8B97AA"/>
                </a:solidFill>
                <a:latin typeface="Pretendard"/>
              </a:rPr>
              <a:t>스코어링 API 호출당 과금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09 · 시장 진입 전략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Pretendard"/>
              </a:rPr>
              <a:t>스튜디오 확보 → 쿼리 수확 → 소비자 성장.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9456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9C2"/>
                </a:solidFill>
                <a:latin typeface="Pretendard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EDF7"/>
                </a:solidFill>
                <a:latin typeface="Pretendard"/>
              </a:rPr>
              <a:t>확보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566160"/>
            <a:ext cx="32004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74904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Pretendard"/>
              </a:rPr>
              <a:t>서울 첫 50개 스튜디오 무료 온보딩.</a:t>
            </a:r>
          </a:p>
          <a:p>
            <a:pPr algn="l"/>
            <a:r>
              <a:rPr sz="1200" b="0">
                <a:solidFill>
                  <a:srgbClr val="8B97AA"/>
                </a:solidFill>
                <a:latin typeface="Pretendard"/>
              </a:rPr>
              <a:t>AEO 셋업을 우리가 직접 수행.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10712" y="219456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2468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9C2"/>
                </a:solidFill>
                <a:latin typeface="Pretendard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EDF7"/>
                </a:solidFill>
                <a:latin typeface="Pretendard"/>
              </a:rPr>
              <a:t>색인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0752" y="3566160"/>
            <a:ext cx="32004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30752" y="374904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Pretendard"/>
              </a:rPr>
              <a:t>JSON-LD로 발행되어 AI 어시스턴트가</a:t>
            </a:r>
          </a:p>
          <a:p>
            <a:pPr algn="l"/>
            <a:r>
              <a:rPr sz="1200" b="0">
                <a:solidFill>
                  <a:srgbClr val="8B97AA"/>
                </a:solidFill>
                <a:latin typeface="Pretendard"/>
              </a:rPr>
              <a:t>클래스를 인용하기 시작.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2784" y="219456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2824" y="2468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9C2"/>
                </a:solidFill>
                <a:latin typeface="Pretendar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92824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EDF7"/>
                </a:solidFill>
                <a:latin typeface="Pretendard"/>
              </a:rPr>
              <a:t>매칭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92824" y="3566160"/>
            <a:ext cx="32004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374904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Pretendard"/>
              </a:rPr>
              <a:t>AI 발견 + 자연 검색을 통해</a:t>
            </a:r>
          </a:p>
          <a:p>
            <a:pPr algn="l"/>
            <a:r>
              <a:rPr sz="1200" b="0">
                <a:solidFill>
                  <a:srgbClr val="8B97AA"/>
                </a:solidFill>
                <a:latin typeface="Pretendard"/>
              </a:rPr>
              <a:t>수련자가 유입됩니다.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34856" y="2194560"/>
            <a:ext cx="2743200" cy="3108960"/>
          </a:xfrm>
          <a:prstGeom prst="roundRect">
            <a:avLst>
              <a:gd name="adj" fmla="val 5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54896" y="24688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9C2"/>
                </a:solidFill>
                <a:latin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54896" y="2834640"/>
            <a:ext cx="2743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E6EDF7"/>
                </a:solidFill>
                <a:latin typeface="Pretendard"/>
              </a:rPr>
              <a:t>구독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54896" y="3566160"/>
            <a:ext cx="32004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54896" y="3749040"/>
            <a:ext cx="21031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Pretendard"/>
              </a:rPr>
              <a:t>월 9,900원으로 전환.</a:t>
            </a:r>
          </a:p>
          <a:p>
            <a:pPr algn="l"/>
            <a:r>
              <a:rPr sz="1200" b="0">
                <a:solidFill>
                  <a:srgbClr val="8B97AA"/>
                </a:solidFill>
                <a:latin typeface="Pretendard"/>
              </a:rPr>
              <a:t>스튜디오는 유료 플랜으로 업그레이드.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10 · 팀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Pretendard"/>
              </a:rPr>
              <a:t>20년차 요가 강사가 직접 만든 AI 엔진.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1064240" cy="2194560"/>
          </a:xfrm>
          <a:prstGeom prst="roundRect">
            <a:avLst>
              <a:gd name="adj" fmla="val 4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1554480" cy="1554480"/>
          </a:xfrm>
          <a:prstGeom prst="ellipse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23160"/>
            <a:ext cx="155448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400" b="1">
                <a:solidFill>
                  <a:srgbClr val="0B1220"/>
                </a:solidFill>
                <a:latin typeface="Pretendard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51760" y="233172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3DD9C2"/>
                </a:solidFill>
                <a:latin typeface="Pretendard"/>
              </a:rPr>
              <a:t>창업자 · CEO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697480"/>
            <a:ext cx="8229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400" b="1">
                <a:solidFill>
                  <a:srgbClr val="E6EDF7"/>
                </a:solidFill>
                <a:latin typeface="Pretendard"/>
              </a:rPr>
              <a:t>유현진 (Hyun-jin Yoo)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337560"/>
            <a:ext cx="8686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7AA"/>
                </a:solidFill>
                <a:latin typeface="Pretendard"/>
              </a:rPr>
              <a:t>20년 경력 공인 요가 강사 · 독학 풀스택·AI 엔지니어</a:t>
            </a:r>
          </a:p>
          <a:p>
            <a:pPr algn="l"/>
            <a:r>
              <a:rPr sz="1200" b="0">
                <a:solidFill>
                  <a:srgbClr val="8B97AA"/>
                </a:solidFill>
                <a:latin typeface="Pretendard"/>
              </a:rPr>
              <a:t>match·elbee·AEO 스택을 단독으로 설계·출시. 한·영 이중언어.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다음 채용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937760"/>
            <a:ext cx="45720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Pretendard"/>
              </a:rPr>
              <a:t>· 시니어 ML 엔지니어 (RAG / 에이전틱 파이프라인)</a:t>
            </a:r>
          </a:p>
          <a:p>
            <a:pPr algn="l"/>
            <a:r>
              <a:rPr sz="1400" b="0">
                <a:solidFill>
                  <a:srgbClr val="E6EDF7"/>
                </a:solidFill>
                <a:latin typeface="Pretendard"/>
              </a:rPr>
              <a:t>· 스튜디오 파트너십 리드 (서울) · 디자이너 (웹 + 브랜드)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11 · 투자 요청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68680"/>
            <a:ext cx="457200" cy="54864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00584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7"/>
                </a:solidFill>
                <a:latin typeface="Pretendard"/>
              </a:rPr>
              <a:t>프리시드 라운드 모집 중.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6858000" cy="3840480"/>
          </a:xfrm>
          <a:prstGeom prst="roundRect">
            <a:avLst>
              <a:gd name="adj" fmla="val 4000"/>
            </a:avLst>
          </a:prstGeom>
          <a:solidFill>
            <a:srgbClr val="161F33"/>
          </a:solidFill>
          <a:ln>
            <a:solidFill>
              <a:srgbClr val="16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F5C466"/>
                </a:solidFill>
                <a:latin typeface="Pretendard"/>
              </a:rPr>
              <a:t>모집 금액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834640"/>
            <a:ext cx="6400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800" b="1">
                <a:solidFill>
                  <a:srgbClr val="E6EDF7"/>
                </a:solidFill>
                <a:latin typeface="Pretendard"/>
              </a:rPr>
              <a:t>$500K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846320"/>
            <a:ext cx="6400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3DD9C2"/>
                </a:solidFill>
                <a:latin typeface="Pretendard"/>
              </a:rPr>
              <a:t>프리시드 · 18개월 런웨이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219456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3DD9C2"/>
                </a:solidFill>
                <a:latin typeface="Pretendard"/>
              </a:rPr>
              <a:t>사용처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63840" y="2560320"/>
            <a:ext cx="457200" cy="4572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0" y="283464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Pretendard"/>
              </a:rPr>
              <a:t>엔지니어링 채용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283464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DD9C2"/>
                </a:solidFill>
                <a:latin typeface="Pretendard"/>
              </a:rPr>
              <a:t>55%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33756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Pretendard"/>
              </a:rPr>
              <a:t>스튜디오 파트너십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333756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DD9C2"/>
                </a:solidFill>
                <a:latin typeface="Pretendard"/>
              </a:rPr>
              <a:t>20%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84048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Pretendard"/>
              </a:rPr>
              <a:t>브랜드·콘텐츠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384048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DD9C2"/>
                </a:solidFill>
                <a:latin typeface="Pretendard"/>
              </a:rP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0" y="4343400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E6EDF7"/>
                </a:solidFill>
                <a:latin typeface="Pretendard"/>
              </a:rPr>
              <a:t>인프라·데이터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7040" y="4343400"/>
            <a:ext cx="10972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1">
                <a:solidFill>
                  <a:srgbClr val="3DD9C2"/>
                </a:solidFill>
                <a:latin typeface="Pretendard"/>
              </a:rPr>
              <a:t>10%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8B97AA"/>
                </a:solidFill>
                <a:latin typeface="Pretendard"/>
              </a:rPr>
              <a:t>aeogeo · yogaman.club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4652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8B97AA"/>
                </a:solidFill>
                <a:latin typeface="Pretendard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DD9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E6EDF7"/>
                </a:solidFill>
                <a:latin typeface="Pretendard"/>
              </a:rPr>
              <a:t>함께 AI 요가 큐레이터를 만들어요.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3DD9C2"/>
                </a:solidFill>
                <a:latin typeface="Pretendard"/>
              </a:rPr>
              <a:t>감사합니다.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12064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8B97AA"/>
                </a:solidFill>
                <a:latin typeface="Pretendard"/>
              </a:rPr>
              <a:t>yogaman.club  ·  match.yogaman.club  ·  elbee.yogaman.club</a:t>
            </a:r>
          </a:p>
          <a:p>
            <a:pPr algn="l"/>
            <a:r>
              <a:rPr sz="1400" b="0">
                <a:solidFill>
                  <a:srgbClr val="8B97AA"/>
                </a:solidFill>
                <a:latin typeface="Pretendard"/>
              </a:rPr>
              <a:t>hello@yogaman.club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